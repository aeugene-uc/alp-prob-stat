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417320"/>
            <a:ext cx="10332720" cy="179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 err="1">
                <a:solidFill>
                  <a:srgbClr val="000000"/>
                </a:solidFill>
                <a:latin typeface="Times New Roman"/>
              </a:rPr>
              <a:t>Pemodelan</a:t>
            </a:r>
            <a:r>
              <a:rPr sz="30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3000" b="1" i="0" dirty="0" err="1">
                <a:solidFill>
                  <a:srgbClr val="000000"/>
                </a:solidFill>
                <a:latin typeface="Times New Roman"/>
              </a:rPr>
              <a:t>Konsumsi</a:t>
            </a:r>
            <a:r>
              <a:rPr sz="3000" b="1" i="0" dirty="0">
                <a:solidFill>
                  <a:srgbClr val="000000"/>
                </a:solidFill>
                <a:latin typeface="Times New Roman"/>
              </a:rPr>
              <a:t> Bahan Bakar </a:t>
            </a:r>
            <a:r>
              <a:rPr sz="3000" b="1" i="0" dirty="0" err="1">
                <a:solidFill>
                  <a:srgbClr val="000000"/>
                </a:solidFill>
                <a:latin typeface="Times New Roman"/>
              </a:rPr>
              <a:t>Gabungan</a:t>
            </a:r>
            <a:r>
              <a:rPr sz="30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3000" b="1" i="0" dirty="0" err="1">
                <a:solidFill>
                  <a:srgbClr val="000000"/>
                </a:solidFill>
                <a:latin typeface="Times New Roman"/>
              </a:rPr>
              <a:t>Kendaraan</a:t>
            </a:r>
            <a:endParaRPr sz="3000" b="1" i="0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3000" b="1" i="0" dirty="0" err="1">
                <a:solidFill>
                  <a:srgbClr val="000000"/>
                </a:solidFill>
                <a:latin typeface="Times New Roman"/>
              </a:rPr>
              <a:t>Menggunakan</a:t>
            </a:r>
            <a:r>
              <a:rPr sz="30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3000" b="1" i="0" dirty="0">
                <a:solidFill>
                  <a:srgbClr val="000000"/>
                </a:solidFill>
                <a:latin typeface="Times New Roman"/>
              </a:rPr>
              <a:t>Multiple Linear </a:t>
            </a:r>
            <a:r>
              <a:rPr sz="3000" b="1" i="0" dirty="0">
                <a:solidFill>
                  <a:srgbClr val="000000"/>
                </a:solidFill>
                <a:latin typeface="Times New Roman"/>
              </a:rPr>
              <a:t>Regres</a:t>
            </a:r>
            <a:r>
              <a:rPr lang="en-US" sz="3000" b="1" i="0" dirty="0">
                <a:solidFill>
                  <a:srgbClr val="000000"/>
                </a:solidFill>
                <a:latin typeface="Times New Roman"/>
              </a:rPr>
              <a:t>sion</a:t>
            </a:r>
            <a:r>
              <a:rPr sz="30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3000" b="1" i="0" dirty="0" err="1">
                <a:solidFill>
                  <a:srgbClr val="000000"/>
                </a:solidFill>
                <a:latin typeface="Times New Roman"/>
              </a:rPr>
              <a:t>dengan</a:t>
            </a:r>
            <a:r>
              <a:rPr sz="3000" b="1" i="0" dirty="0">
                <a:solidFill>
                  <a:srgbClr val="000000"/>
                </a:solidFill>
                <a:latin typeface="Times New Roman"/>
              </a:rPr>
              <a:t> One-Hot Encoding</a:t>
            </a:r>
          </a:p>
          <a:p>
            <a:pPr algn="ctr">
              <a:spcBef>
                <a:spcPts val="800"/>
              </a:spcBef>
            </a:pPr>
            <a:r>
              <a:rPr sz="1400" b="0" i="1" dirty="0">
                <a:solidFill>
                  <a:srgbClr val="3A3A3A"/>
                </a:solidFill>
                <a:latin typeface="Times New Roman"/>
              </a:rPr>
              <a:t>Modeling Combined Vehicle Fuel Consumption Using Multiple Linear Regression with One-Hot Encoding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023360" y="3703320"/>
            <a:ext cx="4114800" cy="15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886200"/>
            <a:ext cx="103327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000000"/>
                </a:solidFill>
                <a:latin typeface="Times New Roman"/>
              </a:rPr>
              <a:t>Rei Putra Soemanto, Amadeus Eugene </a:t>
            </a:r>
            <a:r>
              <a:rPr sz="1700" b="1" i="0" dirty="0" err="1">
                <a:solidFill>
                  <a:srgbClr val="000000"/>
                </a:solidFill>
                <a:latin typeface="Times New Roman"/>
              </a:rPr>
              <a:t>Dirgantara</a:t>
            </a:r>
            <a:r>
              <a:rPr sz="1700" b="1" i="0" dirty="0">
                <a:solidFill>
                  <a:srgbClr val="000000"/>
                </a:solidFill>
                <a:latin typeface="Times New Roman"/>
              </a:rPr>
              <a:t>, Jason Tio</a:t>
            </a:r>
          </a:p>
          <a:p>
            <a:pPr algn="ctr">
              <a:spcBef>
                <a:spcPts val="400"/>
              </a:spcBef>
            </a:pPr>
            <a:r>
              <a:rPr sz="1300" b="0" i="0" dirty="0">
                <a:solidFill>
                  <a:srgbClr val="3A3A3A"/>
                </a:solidFill>
                <a:latin typeface="Times New Roman"/>
              </a:rPr>
              <a:t>NIM: 0706012410060, 0706012410063, 0706012410006</a:t>
            </a:r>
          </a:p>
          <a:p>
            <a:pPr algn="ctr">
              <a:spcBef>
                <a:spcPts val="400"/>
              </a:spcBef>
            </a:pPr>
            <a:r>
              <a:rPr sz="1300" b="0" i="0" dirty="0">
                <a:solidFill>
                  <a:srgbClr val="3A3A3A"/>
                </a:solidFill>
                <a:latin typeface="Times New Roman"/>
              </a:rPr>
              <a:t>Program Studi </a:t>
            </a:r>
            <a:r>
              <a:rPr sz="1300" b="0" i="0" dirty="0" err="1">
                <a:solidFill>
                  <a:srgbClr val="3A3A3A"/>
                </a:solidFill>
                <a:latin typeface="Times New Roman"/>
              </a:rPr>
              <a:t>Informatika</a:t>
            </a:r>
            <a:r>
              <a:rPr sz="1300" b="0" i="0" dirty="0">
                <a:solidFill>
                  <a:srgbClr val="3A3A3A"/>
                </a:solidFill>
                <a:latin typeface="Times New Roman"/>
              </a:rPr>
              <a:t>, Universitas </a:t>
            </a:r>
            <a:r>
              <a:rPr sz="1300" b="0" i="0" dirty="0" err="1">
                <a:solidFill>
                  <a:srgbClr val="3A3A3A"/>
                </a:solidFill>
                <a:latin typeface="Times New Roman"/>
              </a:rPr>
              <a:t>Ciputra</a:t>
            </a:r>
            <a:r>
              <a:rPr sz="1300" b="0" i="0" dirty="0">
                <a:solidFill>
                  <a:srgbClr val="3A3A3A"/>
                </a:solidFill>
                <a:latin typeface="Times New Roman"/>
              </a:rPr>
              <a:t>, Surabaya, Jawa Timur, Indonesia</a:t>
            </a:r>
          </a:p>
          <a:p>
            <a:pPr algn="ctr">
              <a:spcBef>
                <a:spcPts val="400"/>
              </a:spcBef>
            </a:pPr>
            <a:r>
              <a:rPr lang="en-US" sz="1300" b="0" i="1" dirty="0">
                <a:solidFill>
                  <a:srgbClr val="3A3A3A"/>
                </a:solidFill>
                <a:latin typeface="Times New Roman"/>
              </a:rPr>
              <a:t>ALP Statistics and Probability</a:t>
            </a:r>
            <a:endParaRPr sz="1300" b="0" i="1" dirty="0">
              <a:solidFill>
                <a:srgbClr val="3A3A3A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Abstrak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43584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Memodelkan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konsumsi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bahan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bakar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gabungan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(comb_l_100km)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dari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spesifikasi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kendaraan</a:t>
            </a:r>
            <a:endParaRPr sz="1700" b="0" i="0" dirty="0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 Dataset Fuel Consumption 2000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sampai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2022, 22.555 baris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setelah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pembersihan</a:t>
            </a:r>
            <a:endParaRPr sz="1700" b="0" i="0" dirty="0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 Metode </a:t>
            </a:r>
            <a:r>
              <a:rPr lang="en-ID" sz="1700" b="0" i="0" dirty="0">
                <a:solidFill>
                  <a:srgbClr val="000000"/>
                </a:solidFill>
                <a:latin typeface="Times New Roman"/>
              </a:rPr>
              <a:t>multiple linear regression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dengan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one-hot encoding,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diestimasi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OLS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Tahun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model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dibuang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jumlah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silinder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dipertahankan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karena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ablasi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membuktikan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manfaatnya</a:t>
            </a:r>
            <a:endParaRPr sz="1700" b="0" i="0" dirty="0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 Suku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kuadratik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tidak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menaikkan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R-squared uji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sehingga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model linear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dipilih</a:t>
            </a:r>
            <a:endParaRPr sz="1700" b="0" i="0" dirty="0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 Model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menjelaskan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sekitar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84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persen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variansi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dengan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RMSE uji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sekitar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1,18 L/100 km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Heteroskedastisitas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dan non-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normalitas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ditangani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dengan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standard error robust HC3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0644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 i="0" dirty="0">
                <a:solidFill>
                  <a:srgbClr val="000000"/>
                </a:solidFill>
                <a:latin typeface="Times New Roman"/>
              </a:rPr>
              <a:t>•  Kata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kunci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en-ID" sz="1300" b="0" i="0" dirty="0">
                <a:solidFill>
                  <a:srgbClr val="000000"/>
                </a:solidFill>
                <a:latin typeface="Times New Roman"/>
              </a:rPr>
              <a:t>multiple linear regression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, one-hot encoding,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seleksi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fitur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multikolinieritas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heteroskedastisitas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, standard error robust HC3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1. Pendahuluan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43584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Konsumsi bahan bakar berkaitan langsung dengan biaya, emisi, dan keberlanjutan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Memprediksinya dari spesifikasi kendaraan bermanfaat untuk armada dan konsumen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Karakteristik kendaraan bercampur antara besaran numerik dan kategori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1">
                <a:solidFill>
                  <a:srgbClr val="3A3A3A"/>
                </a:solidFill>
                <a:latin typeface="Times New Roman"/>
              </a:rPr>
              <a:t>       kategori diolah menjadi kolom indikator melalui one-hot encoding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Tantangan utama dalam pemodelan ini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1">
                <a:solidFill>
                  <a:srgbClr val="3A3A3A"/>
                </a:solidFill>
                <a:latin typeface="Times New Roman"/>
              </a:rPr>
              <a:t>       multikolinieritas antara ukuran mesin dan jumlah silinder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1">
                <a:solidFill>
                  <a:srgbClr val="3A3A3A"/>
                </a:solidFill>
                <a:latin typeface="Times New Roman"/>
              </a:rPr>
              <a:t>       prediktor hampir tidak relevan seperti tahun model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1">
                <a:solidFill>
                  <a:srgbClr val="3A3A3A"/>
                </a:solidFill>
                <a:latin typeface="Times New Roman"/>
              </a:rPr>
              <a:t>       bentuk hubungan yang mungkin melengkung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1">
                <a:solidFill>
                  <a:srgbClr val="3A3A3A"/>
                </a:solidFill>
                <a:latin typeface="Times New Roman"/>
              </a:rPr>
              <a:t>       pemenuhan asumsi Ordinary Least Squares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Pertanyaan Penelitian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43584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0"/>
              </a:spcAft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•  Pertama, fitur kendaraan mana yang sebaiknya dipertahankan sebagai prediktor</a:t>
            </a:r>
          </a:p>
          <a:p>
            <a:pPr>
              <a:spcBef>
                <a:spcPts val="0"/>
              </a:spcBef>
              <a:spcAft>
                <a:spcPts val="2000"/>
              </a:spcAft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•  Kedua, bagaimana variabel kategori diolah tanpa menimbulkan kolinieritas sempurna</a:t>
            </a:r>
          </a:p>
          <a:p>
            <a:pPr>
              <a:spcBef>
                <a:spcPts val="0"/>
              </a:spcBef>
              <a:spcAft>
                <a:spcPts val="2000"/>
              </a:spcAft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•  Ketiga, apakah model linear sudah memadai atau perlu suku polinomial</a:t>
            </a:r>
          </a:p>
          <a:p>
            <a:pPr>
              <a:spcBef>
                <a:spcPts val="0"/>
              </a:spcBef>
              <a:spcAft>
                <a:spcPts val="2000"/>
              </a:spcAft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•  Keempat, apakah model akhir memenuhi asumsi OLS dan bagaimana menangani pelanggarannya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2. Tinjauan Pustaka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43584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11556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 </a:t>
            </a:r>
            <a:r>
              <a:rPr lang="en-ID" sz="1700" dirty="0">
                <a:solidFill>
                  <a:srgbClr val="000000"/>
                </a:solidFill>
                <a:latin typeface="Times New Roman"/>
              </a:rPr>
              <a:t>M</a:t>
            </a:r>
            <a:r>
              <a:rPr lang="en-ID" sz="1700" b="0" i="0" dirty="0">
                <a:solidFill>
                  <a:srgbClr val="000000"/>
                </a:solidFill>
                <a:latin typeface="Times New Roman"/>
              </a:rPr>
              <a:t>ultiple linear regression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memodelkan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respons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sebagai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jumlah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kontribusi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linear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tiap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prediktor</a:t>
            </a:r>
            <a:endParaRPr sz="1700" b="0" i="0" dirty="0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 One-hot encoding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membuat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k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dikurang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satu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kolom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indikator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dengan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satu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kategori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acuan</a:t>
            </a:r>
            <a:endParaRPr sz="1700" b="0" i="0" dirty="0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 i="1" dirty="0">
                <a:solidFill>
                  <a:srgbClr val="3A3A3A"/>
                </a:solidFill>
                <a:latin typeface="Times New Roman"/>
              </a:rPr>
              <a:t>       </a:t>
            </a:r>
            <a:r>
              <a:rPr sz="1600" b="0" i="1" dirty="0" err="1">
                <a:solidFill>
                  <a:srgbClr val="3A3A3A"/>
                </a:solidFill>
                <a:latin typeface="Times New Roman"/>
              </a:rPr>
              <a:t>penetapan</a:t>
            </a:r>
            <a:r>
              <a:rPr sz="1600" b="0" i="1" dirty="0">
                <a:solidFill>
                  <a:srgbClr val="3A3A3A"/>
                </a:solidFill>
                <a:latin typeface="Times New Roman"/>
              </a:rPr>
              <a:t> </a:t>
            </a:r>
            <a:r>
              <a:rPr sz="1600" b="0" i="1" dirty="0" err="1">
                <a:solidFill>
                  <a:srgbClr val="3A3A3A"/>
                </a:solidFill>
                <a:latin typeface="Times New Roman"/>
              </a:rPr>
              <a:t>acuan</a:t>
            </a:r>
            <a:r>
              <a:rPr sz="1600" b="0" i="1" dirty="0">
                <a:solidFill>
                  <a:srgbClr val="3A3A3A"/>
                </a:solidFill>
                <a:latin typeface="Times New Roman"/>
              </a:rPr>
              <a:t> </a:t>
            </a:r>
            <a:r>
              <a:rPr sz="1600" b="0" i="1" dirty="0" err="1">
                <a:solidFill>
                  <a:srgbClr val="3A3A3A"/>
                </a:solidFill>
                <a:latin typeface="Times New Roman"/>
              </a:rPr>
              <a:t>menghindari</a:t>
            </a:r>
            <a:r>
              <a:rPr sz="1600" b="0" i="1" dirty="0">
                <a:solidFill>
                  <a:srgbClr val="3A3A3A"/>
                </a:solidFill>
                <a:latin typeface="Times New Roman"/>
              </a:rPr>
              <a:t> dummy variable trap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 Pearson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mengukur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hubungan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linear, Spearman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mengukur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hubungan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monoton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pada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peringkat</a:t>
            </a:r>
            <a:endParaRPr sz="1700" b="0" i="0" dirty="0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Multikolinieritas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membesarkan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standard error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namun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tidak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selalu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menurunkan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daya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prediksi</a:t>
            </a:r>
            <a:endParaRPr sz="1700" b="0" i="0" dirty="0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 i="0" dirty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Asumsi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OLS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diuji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dengan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Breusch-Pagan dan Jarque-Bera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serta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000000"/>
                </a:solidFill>
                <a:latin typeface="Times New Roman"/>
              </a:rPr>
              <a:t>diagnostik</a:t>
            </a:r>
            <a:r>
              <a:rPr sz="1700" b="0" i="0" dirty="0">
                <a:solidFill>
                  <a:srgbClr val="000000"/>
                </a:solidFill>
                <a:latin typeface="Times New Roman"/>
              </a:rPr>
              <a:t> visual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 i="1" dirty="0">
                <a:solidFill>
                  <a:srgbClr val="3A3A3A"/>
                </a:solidFill>
                <a:latin typeface="Times New Roman"/>
              </a:rPr>
              <a:t>       standard error robust HC3 </a:t>
            </a:r>
            <a:r>
              <a:rPr sz="1600" b="0" i="1" dirty="0" err="1">
                <a:solidFill>
                  <a:srgbClr val="3A3A3A"/>
                </a:solidFill>
                <a:latin typeface="Times New Roman"/>
              </a:rPr>
              <a:t>dipakai</a:t>
            </a:r>
            <a:r>
              <a:rPr sz="1600" b="0" i="1" dirty="0">
                <a:solidFill>
                  <a:srgbClr val="3A3A3A"/>
                </a:solidFill>
                <a:latin typeface="Times New Roman"/>
              </a:rPr>
              <a:t> </a:t>
            </a:r>
            <a:r>
              <a:rPr sz="1600" b="0" i="1" dirty="0" err="1">
                <a:solidFill>
                  <a:srgbClr val="3A3A3A"/>
                </a:solidFill>
                <a:latin typeface="Times New Roman"/>
              </a:rPr>
              <a:t>saat</a:t>
            </a:r>
            <a:r>
              <a:rPr sz="1600" b="0" i="1" dirty="0">
                <a:solidFill>
                  <a:srgbClr val="3A3A3A"/>
                </a:solidFill>
                <a:latin typeface="Times New Roman"/>
              </a:rPr>
              <a:t> </a:t>
            </a:r>
            <a:r>
              <a:rPr sz="1600" b="0" i="1" dirty="0" err="1">
                <a:solidFill>
                  <a:srgbClr val="3A3A3A"/>
                </a:solidFill>
                <a:latin typeface="Times New Roman"/>
              </a:rPr>
              <a:t>ada</a:t>
            </a:r>
            <a:r>
              <a:rPr sz="1600" b="0" i="1" dirty="0">
                <a:solidFill>
                  <a:srgbClr val="3A3A3A"/>
                </a:solidFill>
                <a:latin typeface="Times New Roman"/>
              </a:rPr>
              <a:t> </a:t>
            </a:r>
            <a:r>
              <a:rPr sz="1600" b="0" i="1" dirty="0" err="1">
                <a:solidFill>
                  <a:srgbClr val="3A3A3A"/>
                </a:solidFill>
                <a:latin typeface="Times New Roman"/>
              </a:rPr>
              <a:t>heteroskedastisitas</a:t>
            </a:r>
            <a:endParaRPr sz="1600" b="0" i="1" dirty="0">
              <a:solidFill>
                <a:srgbClr val="3A3A3A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3. Metode: Dataset dan Variabel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43584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67835"/>
              </p:ext>
            </p:extLst>
          </p:nvPr>
        </p:nvGraphicFramePr>
        <p:xfrm>
          <a:off x="640080" y="1600200"/>
          <a:ext cx="10972800" cy="46278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376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Variabel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Tipe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Peran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Catatan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37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Ukuran mesin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Numerik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Prediktor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Kontinu, 0,8 sampai 8,4 L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37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Jumlah silinder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Numerik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Prediktor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Umumnya 4, 6, 8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37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Tahun model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Numerik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Dibuang (korelasi nol)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Model 2000 sampai 2022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37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Jumlah gigi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Numerik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Prediktor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Nol untuk CVT sampai 10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37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Jenis bahan bakar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Kategori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Prediktor (one-hot)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5 </a:t>
                      </a:r>
                      <a:r>
                        <a:rPr sz="1400" b="0" i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jenis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400" b="0" i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yaitu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 Regular gasoline (X), Premium gasoline (Z), Ethanol E85 (E), Diesel (D), Natural Gas (N)</a:t>
                      </a:r>
                      <a:endParaRPr sz="1400" b="0" i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37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Kelas kendaraan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Kategori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Prediktor (one-hot)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17 </a:t>
                      </a:r>
                      <a:r>
                        <a:rPr sz="1400" b="0" i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kelas</a:t>
                      </a:r>
                      <a:r>
                        <a:rPr sz="14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 (</a:t>
                      </a:r>
                      <a:r>
                        <a:rPr sz="1400" b="0" i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dirapikan</a:t>
                      </a:r>
                      <a:r>
                        <a:rPr sz="14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)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37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Tipe transmisi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Kategori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Prediktor (one-hot)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5 </a:t>
                      </a:r>
                      <a:r>
                        <a:rPr sz="1400" b="0" i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tipe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400" b="0" i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yaitu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 Automatic (A), Automatic with select shift (AS), Manual (M), </a:t>
                      </a:r>
                      <a:r>
                        <a:rPr lang="en-US" sz="1400" b="0" i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Continuosly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 Variable Transmission </a:t>
                      </a:r>
                      <a:r>
                        <a:rPr lang="en-US" sz="1400" b="0" i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atau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 CVT (AV), Automated Manual (AM)</a:t>
                      </a:r>
                      <a:endParaRPr sz="1400" b="0" i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837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comb_l_100km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Target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Respons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L/100 km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3. Metode: Persiapan Data dan Kerangka Analisis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43584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•  Tidak ada nilai hilang, satu baris duplikat dihapus sehingga tersisa 22.555 baris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•  Kelas kendaraan diseragamkan dari 32 menjadi 17 kelas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•  Transmisi dipecah menjadi tipe transmisi dan jumlah gigi (CVT diberi nol gigi)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•  Data dibagi 80 berbanding 20 menjadi 18.044 latih dan 4.511 uji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Tahap 1 eksplorasi data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Tahap 2 seleksi fitur berbasis korelasi dan uji ablasi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Tahap 3 pembentukan model (one-hot, split, linear vs polinomial)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Tahap 4 validasi asumsi (Breusch-Pagan dan Jarque-Bera)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Tahap 5 penyempurnaan inferensi dengan standard error robust HC3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4.1 Statistik Deskriptif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43584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Times New Roman"/>
              </a:rPr>
              <a:t>Tabel 1. Statistik deskriptif variabel numerik (n = 22.555)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972795" cy="2953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51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83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59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83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3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225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Variabel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Mean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Std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Min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Q1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Median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Q3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Max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25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Ukuran mesin (L)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3,357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1,335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0,8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2,3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3,0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4,2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8,4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25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Jumlah silinder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5,854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1,820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16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25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Tahun model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2011,6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6,298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2000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2006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2012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2017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2022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25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Jumlah gigi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5,635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1,957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25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comb_l_100km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11,034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2,911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3,6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9,1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10,6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12,7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26,1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 Ukuran mesin median 3,0 L, silinder terpusat di 4, 6, dan 8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 Respons condong ke kanan dengan ekor melampaui 20 L/100 km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4.2 Eksplorasi Visual: Pair Plot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43584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ai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475488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3A3A3A"/>
                </a:solidFill>
                <a:latin typeface="Times New Roman"/>
              </a:rPr>
              <a:t>Gambar 1. Pair plot variabel numerik (sampel acak 3.000 baris)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7373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 Ukuran mesin, jumlah silinder, dan konsumsi menanjak jelas bersama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 Jumlah silinder dan jumlah gigi diskret sehingga membentuk pola vertikal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 Tahun model hampir datar terhadap konsumsi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•  Hubungan dengan respons mendekati garis lurus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0" i="1">
                <a:solidFill>
                  <a:srgbClr val="3A3A3A"/>
                </a:solidFill>
                <a:latin typeface="Times New Roman"/>
              </a:rPr>
              <a:t>       mendukung pemakaian model linear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4.2 Eksplorasi Visual: Boxplot per Kategori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43584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box_vehicle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8760"/>
            <a:ext cx="5943600" cy="37786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1264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1">
                <a:solidFill>
                  <a:srgbClr val="3A3A3A"/>
                </a:solidFill>
                <a:latin typeface="Times New Roman"/>
              </a:rPr>
              <a:t>Gambar 3. Konsumsi menurut kelas kendaraan</a:t>
            </a:r>
          </a:p>
        </p:txBody>
      </p:sp>
      <p:pic>
        <p:nvPicPr>
          <p:cNvPr id="6" name="Picture 5" descr="box_fu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554480"/>
            <a:ext cx="5394960" cy="17332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32004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1">
                <a:solidFill>
                  <a:srgbClr val="3A3A3A"/>
                </a:solidFill>
                <a:latin typeface="Times New Roman"/>
              </a:rPr>
              <a:t>Gambar 2. menurut jenis bahan bakar</a:t>
            </a:r>
          </a:p>
        </p:txBody>
      </p:sp>
      <p:pic>
        <p:nvPicPr>
          <p:cNvPr id="8" name="Picture 7" descr="box_transmis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657600"/>
            <a:ext cx="5394960" cy="17332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53035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1">
                <a:solidFill>
                  <a:srgbClr val="3A3A3A"/>
                </a:solidFill>
                <a:latin typeface="Times New Roman"/>
              </a:rPr>
              <a:t>Gambar 4. menurut tipe transmisi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553212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•  Median konsumsi bergeser sistematis antar kategori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•  Diesel paling hemat, Ethanol E85 dan Natural gas paling boros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•  Kelas menanjak dari sedan kecil ke van dan pikap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4.3 Korelasi dan Seleksi Fitur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43584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ea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63485"/>
            <a:ext cx="4572000" cy="39139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532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3A3A3A"/>
                </a:solidFill>
                <a:latin typeface="Times New Roman"/>
              </a:rPr>
              <a:t>Gambar A1. Matriks korelasi Pearson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46304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Times New Roman"/>
              </a:rPr>
              <a:t>Tabel 2. Korelasi prediktor numerik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0" y="1783080"/>
          <a:ext cx="6675118" cy="2240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99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26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00000"/>
                          </a:solidFill>
                          <a:latin typeface="Times New Roman"/>
                        </a:rPr>
                        <a:t>Pasangan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000000"/>
                          </a:solidFill>
                          <a:latin typeface="Times New Roman"/>
                        </a:rPr>
                        <a:t>Pearson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000000"/>
                          </a:solidFill>
                          <a:latin typeface="Times New Roman"/>
                        </a:rPr>
                        <a:t>Spearman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00000"/>
                          </a:solidFill>
                          <a:latin typeface="Times New Roman"/>
                        </a:rPr>
                        <a:t>Putusan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Times New Roman"/>
                        </a:rPr>
                        <a:t>Ukuran mesin ~ respons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0,807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0,845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Times New Roman"/>
                        </a:rPr>
                        <a:t>Berarti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Times New Roman"/>
                        </a:rPr>
                        <a:t>Jumlah silinder ~ respons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0,772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0,818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Times New Roman"/>
                        </a:rPr>
                        <a:t>Berarti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Times New Roman"/>
                        </a:rPr>
                        <a:t>Tahun model ~ respons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00000"/>
                          </a:solidFill>
                          <a:latin typeface="Times New Roman"/>
                        </a:rPr>
                        <a:t>-0,068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00000"/>
                          </a:solidFill>
                          <a:latin typeface="Times New Roman"/>
                        </a:rPr>
                        <a:t>-0,073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Times New Roman"/>
                        </a:rPr>
                        <a:t>Dapat diabaikan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00000"/>
                          </a:solidFill>
                          <a:latin typeface="Times New Roman"/>
                        </a:rPr>
                        <a:t>Ukuran mesin ~ silinder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0,913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0,936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000000"/>
                          </a:solidFill>
                          <a:latin typeface="Times New Roman"/>
                        </a:rPr>
                        <a:t>Kolinier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03520" y="4186443"/>
            <a:ext cx="6675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Putusan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dari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selang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kepercayaan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 95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persen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terhadap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ambang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 0,1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000000"/>
                </a:solidFill>
                <a:latin typeface="Times New Roman"/>
              </a:rPr>
              <a:t>•  Pada n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besar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 p-value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hampir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selalu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signifikan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sehingga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tidak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dipakai</a:t>
            </a:r>
            <a:endParaRPr sz="1300" b="0" i="0" dirty="0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Selisih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 Spearman dan Pearson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kecil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sehingga</a:t>
            </a:r>
            <a:r>
              <a:rPr sz="1300" b="0" i="0" dirty="0">
                <a:solidFill>
                  <a:srgbClr val="000000"/>
                </a:solidFill>
                <a:latin typeface="Times New Roman"/>
              </a:rPr>
              <a:t> model linear </a:t>
            </a:r>
            <a:r>
              <a:rPr sz="1300" b="0" i="0" dirty="0" err="1">
                <a:solidFill>
                  <a:srgbClr val="000000"/>
                </a:solidFill>
                <a:latin typeface="Times New Roman"/>
              </a:rPr>
              <a:t>wajar</a:t>
            </a:r>
            <a:endParaRPr sz="1300" b="0" i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4.3 Keputusan Seleksi Fitur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43584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Times New Roman"/>
              </a:rPr>
              <a:t>Tabel 3. Keputusan seleksi fitur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972798" cy="39959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64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7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01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491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Prediktor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Keputusan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Alasan ringkas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491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Ukuran mesin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Pertahankan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Korelasi paling kuat dengan respons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491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Jumlah silinder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Pertahankan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Kolinier namun terbukti menambah prediksi (ablasi)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491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Tahun model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Buang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Korelasi dengan respons dapat diabaikan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491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Jumlah gigi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Pertahankan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Transmisi berkaitan dengan konsumsi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491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Jenis bahan bakar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Pertahankan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Median konsumsi bergeser antar kategori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491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Kelas kendaraan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Pertahankan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Median konsumsi bergeser antar kategori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9491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Tipe transmisi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Pertahankan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Median konsumsi bergeser antar kategori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4.4 Pembentukan Model dan Pemilihan Bentuk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43584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Times New Roman"/>
              </a:rPr>
              <a:t>Tabel 4. Perbandingan model linear dan polinomial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10058400" cy="15910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</a:rPr>
                        <a:t>Jumlah parameter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</a:rPr>
                        <a:t>R-squared latih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000000"/>
                          </a:solidFill>
                          <a:latin typeface="Times New Roman"/>
                        </a:rPr>
                        <a:t>R-squared uji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</a:rPr>
                        <a:t>Linear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</a:rPr>
                        <a:t>28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0,8342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0,8365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</a:rPr>
                        <a:t>Polinomial (ukuran mesin kuadratik)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</a:rPr>
                        <a:t>29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0,8344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0,8364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931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•  Pada data uji kedua model praktis setara padahal polinomial satu parameter lebih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•  Tambahan suku kuadratik tidak menaikkan kemampuan generalisasi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 i="1">
                <a:solidFill>
                  <a:srgbClr val="3A3A3A"/>
                </a:solidFill>
                <a:latin typeface="Times New Roman"/>
              </a:rPr>
              <a:t>       model linear yang lebih sederhana dipilih (parsimoni)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4.5 Model Final dan Koefisien</a:t>
            </a:r>
          </a:p>
          <a:p>
            <a:r>
              <a:rPr sz="1300" b="0" i="1">
                <a:solidFill>
                  <a:srgbClr val="3A3A3A"/>
                </a:solidFill>
                <a:latin typeface="Times New Roman"/>
              </a:rPr>
              <a:t>Cuplikan. Standard error, p-value, dan CI 95 persen berbasis HC3. Tabel penuh ada di paper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44752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Times New Roman"/>
              </a:rPr>
              <a:t>Tabel 5. Koefisien model linear final dengan standard error robust HC3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65960"/>
          <a:ext cx="11338557" cy="42611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477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2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2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2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2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21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777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00000"/>
                          </a:solidFill>
                          <a:latin typeface="Times New Roman"/>
                        </a:rPr>
                        <a:t>Variabel (vs kategori acuan)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000000"/>
                          </a:solidFill>
                          <a:latin typeface="Times New Roman"/>
                        </a:rPr>
                        <a:t>Koef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000000"/>
                          </a:solidFill>
                          <a:latin typeface="Times New Roman"/>
                        </a:rPr>
                        <a:t>SE (HC3)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000000"/>
                          </a:solidFill>
                          <a:latin typeface="Times New Roman"/>
                        </a:rPr>
                        <a:t>p-value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000000"/>
                          </a:solidFill>
                          <a:latin typeface="Times New Roman"/>
                        </a:rPr>
                        <a:t>CI bawah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000000"/>
                          </a:solidFill>
                          <a:latin typeface="Times New Roman"/>
                        </a:rPr>
                        <a:t>CI atas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77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Ukuran mesin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0,6438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0,0264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&lt;0,001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0,592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0,696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77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Jumlah silinder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0,5740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0,0185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&lt;0,001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0,538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0,610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77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Jumlah gigi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-0,0518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0,0075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&lt;0,001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-0,066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-0,037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77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Bahan bakar: Ethanol E85 (E)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5,4887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0,0758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&lt;0,001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5,340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5,637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77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Bahan bakar: Natural gas (N)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3,7854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0,2542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&lt;0,001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3,287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4,284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77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Bahan bakar: Premium gasoline (Z)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2,0951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0,0574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&lt;0,001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1,983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2,208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77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Bahan bakar: Regular gasoline (X)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1,4221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0,0569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&lt;0,001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1,311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1,534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77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Transmisi: Continuously variable (AV)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-1,6222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0,0646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&lt;0,001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-1,749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-1,496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77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Kelas: Van passenger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3,9195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0,1053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&lt;0,001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3,713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4,126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77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Kelas: Van cargo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2,6157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0,0718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&lt;0,001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2,475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2,757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77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Kelas: SUV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1,5188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0,0365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&lt;0,001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1,447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1,590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778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Kelas: Minicompact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-0,1952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0,0441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&lt;0,001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-0,282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-0,109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4.5 Interpretasi Koefisien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43584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Ukuran mesin dan jumlah silinder positif sehingga mesin lebih besar lebih boros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1">
                <a:solidFill>
                  <a:srgbClr val="3A3A3A"/>
                </a:solidFill>
                <a:latin typeface="Times New Roman"/>
              </a:rPr>
              <a:t>       keduanya dibaca bersama sebagai ukuran kapasitas mesin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Jumlah gigi negatif sehingga lebih banyak rasio gigi cenderung lebih hemat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Diesel paling hemat sebagai acuan, Ethanol E85 paling boros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Transmisi variabel kontinu paling hemat antar tipe transmisi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Kelas kendaraan menanjak dari mobil kecil sampai van dan pikap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1">
                <a:solidFill>
                  <a:srgbClr val="3A3A3A"/>
                </a:solidFill>
                <a:latin typeface="Times New Roman"/>
              </a:rPr>
              <a:t>       kelas Full size dan Mid size tidak berbeda nyata dari acuan Compact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4.6 Validasi Asumsi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43584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Times New Roman"/>
              </a:rPr>
              <a:t>Tabel 6. Hasil uji asumsi dan magnitudo penyimpangan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6583678" cy="1783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70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8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00000"/>
                          </a:solidFill>
                          <a:latin typeface="Times New Roman"/>
                        </a:rPr>
                        <a:t>Aspek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00000"/>
                          </a:solidFill>
                          <a:latin typeface="Times New Roman"/>
                        </a:rPr>
                        <a:t>Uji dan magnitudo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00000"/>
                          </a:solidFill>
                          <a:latin typeface="Times New Roman"/>
                        </a:rPr>
                        <a:t>Pembacaan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Homoskedastisitas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Breusch-Pagan, R-squared aux 0,083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Heteroskedastik ringan sampai sedang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Normalitas (kemiringan)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Skewness 0,42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Kemiringan dapat diabaikan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Normalitas (ekor)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Excess kurtosis 2,14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0000"/>
                          </a:solidFill>
                          <a:latin typeface="Times New Roman"/>
                        </a:rPr>
                        <a:t>Ekor lebih tebal dari normal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566160"/>
            <a:ext cx="6583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•  Pada n besar uji formal selalu menolak sehingga dibaca dari magnitudo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•  Heteroskedastisitas ditangani standard error robust HC3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•  Inferensi koefisien tetap aman berkat Central Limit Theorem</a:t>
            </a:r>
          </a:p>
        </p:txBody>
      </p:sp>
      <p:pic>
        <p:nvPicPr>
          <p:cNvPr id="7" name="Picture 6" descr="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749344"/>
            <a:ext cx="4663440" cy="1907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507492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3A3A3A"/>
                </a:solidFill>
                <a:latin typeface="Times New Roman"/>
              </a:rPr>
              <a:t>Gambar 5. Q-Q plot (kiri) dan residual vs fitted (kanan)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4.6 Penyempurnaan Inferensi HC3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43584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Times New Roman"/>
              </a:rPr>
              <a:t>Tabel 7. Perbandingan standard error klasik dan HC3 (sampel koefisien)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20240"/>
          <a:ext cx="10515598" cy="24871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06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3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433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Koefisien (sampel)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SE klasik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SE HC3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Rasio HC3 / klasik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433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Ukuran mesin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0,0185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0,0264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1,43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433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Jumlah silinder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0,0131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0,0185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1,41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433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Bahan bakar: Premium gasoline (Z)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0,0782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0,0574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0,73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43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Kelas: Van passenger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0,0859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0,1053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1,23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520152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Estimasi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titik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koefisien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tidak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berubah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hanya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ketidakpastiannya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dikoreksi</a:t>
            </a:r>
            <a:endParaRPr sz="1500" b="0" i="0" dirty="0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000000"/>
                </a:solidFill>
                <a:latin typeface="Times New Roman"/>
              </a:rPr>
              <a:t>•  Standard error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ukuran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mesin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dan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jumlah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silinder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naik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sekitar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40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persen</a:t>
            </a:r>
            <a:endParaRPr sz="1500" b="0" i="0" dirty="0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1" dirty="0">
                <a:solidFill>
                  <a:srgbClr val="3A3A3A"/>
                </a:solidFill>
                <a:latin typeface="Times New Roman"/>
              </a:rPr>
              <a:t>       </a:t>
            </a:r>
            <a:r>
              <a:rPr sz="1400" b="0" i="1" dirty="0" err="1">
                <a:solidFill>
                  <a:srgbClr val="3A3A3A"/>
                </a:solidFill>
                <a:latin typeface="Times New Roman"/>
              </a:rPr>
              <a:t>bukti</a:t>
            </a:r>
            <a:r>
              <a:rPr sz="1400" b="0" i="1" dirty="0">
                <a:solidFill>
                  <a:srgbClr val="3A3A3A"/>
                </a:solidFill>
                <a:latin typeface="Times New Roman"/>
              </a:rPr>
              <a:t> standard error </a:t>
            </a:r>
            <a:r>
              <a:rPr sz="1400" b="0" i="1" dirty="0" err="1">
                <a:solidFill>
                  <a:srgbClr val="3A3A3A"/>
                </a:solidFill>
                <a:latin typeface="Times New Roman"/>
              </a:rPr>
              <a:t>klasik</a:t>
            </a:r>
            <a:r>
              <a:rPr sz="1400" b="0" i="1" dirty="0">
                <a:solidFill>
                  <a:srgbClr val="3A3A3A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3A3A3A"/>
                </a:solidFill>
                <a:latin typeface="Times New Roman"/>
              </a:rPr>
              <a:t>kurang</a:t>
            </a:r>
            <a:r>
              <a:rPr sz="1400" b="0" i="1" dirty="0">
                <a:solidFill>
                  <a:srgbClr val="3A3A3A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3A3A3A"/>
                </a:solidFill>
                <a:latin typeface="Times New Roman"/>
              </a:rPr>
              <a:t>tepat</a:t>
            </a:r>
            <a:r>
              <a:rPr sz="1400" b="0" i="1" dirty="0">
                <a:solidFill>
                  <a:srgbClr val="3A3A3A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3A3A3A"/>
                </a:solidFill>
                <a:latin typeface="Times New Roman"/>
              </a:rPr>
              <a:t>saat</a:t>
            </a:r>
            <a:r>
              <a:rPr sz="1400" b="0" i="1" dirty="0">
                <a:solidFill>
                  <a:srgbClr val="3A3A3A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3A3A3A"/>
                </a:solidFill>
                <a:latin typeface="Times New Roman"/>
              </a:rPr>
              <a:t>ada</a:t>
            </a:r>
            <a:r>
              <a:rPr sz="1400" b="0" i="1" dirty="0">
                <a:solidFill>
                  <a:srgbClr val="3A3A3A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3A3A3A"/>
                </a:solidFill>
                <a:latin typeface="Times New Roman"/>
              </a:rPr>
              <a:t>heteroskedastisitas</a:t>
            </a:r>
            <a:endParaRPr sz="1400" b="0" i="1" dirty="0">
              <a:solidFill>
                <a:srgbClr val="3A3A3A"/>
              </a:solidFill>
              <a:latin typeface="Times New Roman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000000"/>
                </a:solidFill>
                <a:latin typeface="Times New Roman"/>
              </a:rPr>
              <a:t>•  HC3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dipilih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karena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paling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konservatif</a:t>
            </a:r>
            <a:endParaRPr sz="1500" b="0" i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4.7 Ablasi dan Evaluasi Generalisasi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43584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Times New Roman"/>
              </a:rPr>
              <a:t>Tabel 8. Evaluasi generalisasi model final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058398" cy="19751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54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5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5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4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Metrik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Latih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Uji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</a:rPr>
                        <a:t>Selisih (latih dikurang uji)</a:t>
                      </a:r>
                    </a:p>
                  </a:txBody>
                  <a:tcPr marL="64008" marR="73152" marT="13716" marB="13716" anchor="ctr">
                    <a:lnB w="9525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R-squared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0,8342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0,8365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-0,0023</a:t>
                      </a:r>
                    </a:p>
                  </a:txBody>
                  <a:tcPr marL="64008" marR="73152" marT="13716" marB="13716" anchor="ctr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RMSE (L/100 km)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1,1857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1,1757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0,0101</a:t>
                      </a:r>
                    </a:p>
                  </a:txBody>
                  <a:tcPr marL="64008" marR="73152" marT="13716" marB="1371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MAE (L/100 km)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0,8962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0,8941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0,0020</a:t>
                      </a:r>
                    </a:p>
                  </a:txBody>
                  <a:tcPr marL="64008" marR="73152" marT="13716" marB="13716" anchor="ctr">
                    <a:lnB w="1905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899869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Membuang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jumlah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silinder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menurunkan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R-squared uji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sekitar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0,02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1" dirty="0">
                <a:solidFill>
                  <a:srgbClr val="3A3A3A"/>
                </a:solidFill>
                <a:latin typeface="Times New Roman"/>
              </a:rPr>
              <a:t>       </a:t>
            </a:r>
            <a:r>
              <a:rPr sz="1400" b="0" i="1" dirty="0" err="1">
                <a:solidFill>
                  <a:srgbClr val="3A3A3A"/>
                </a:solidFill>
                <a:latin typeface="Times New Roman"/>
              </a:rPr>
              <a:t>kolinier</a:t>
            </a:r>
            <a:r>
              <a:rPr sz="1400" b="0" i="1" dirty="0">
                <a:solidFill>
                  <a:srgbClr val="3A3A3A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3A3A3A"/>
                </a:solidFill>
                <a:latin typeface="Times New Roman"/>
              </a:rPr>
              <a:t>bukan</a:t>
            </a:r>
            <a:r>
              <a:rPr sz="1400" b="0" i="1" dirty="0">
                <a:solidFill>
                  <a:srgbClr val="3A3A3A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3A3A3A"/>
                </a:solidFill>
                <a:latin typeface="Times New Roman"/>
              </a:rPr>
              <a:t>berarti</a:t>
            </a:r>
            <a:r>
              <a:rPr sz="1400" b="0" i="1" dirty="0">
                <a:solidFill>
                  <a:srgbClr val="3A3A3A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3A3A3A"/>
                </a:solidFill>
                <a:latin typeface="Times New Roman"/>
              </a:rPr>
              <a:t>redundan</a:t>
            </a:r>
            <a:r>
              <a:rPr sz="1400" b="0" i="1" dirty="0">
                <a:solidFill>
                  <a:srgbClr val="3A3A3A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3A3A3A"/>
                </a:solidFill>
                <a:latin typeface="Times New Roman"/>
              </a:rPr>
              <a:t>sehingga</a:t>
            </a:r>
            <a:r>
              <a:rPr sz="1400" b="0" i="1" dirty="0">
                <a:solidFill>
                  <a:srgbClr val="3A3A3A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3A3A3A"/>
                </a:solidFill>
                <a:latin typeface="Times New Roman"/>
              </a:rPr>
              <a:t>dipertahankan</a:t>
            </a:r>
            <a:endParaRPr sz="1400" b="0" i="1" dirty="0">
              <a:solidFill>
                <a:srgbClr val="3A3A3A"/>
              </a:solidFill>
              <a:latin typeface="Times New Roman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Menambahkan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kembali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tahun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model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tidak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mengubah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R-squared uji (p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sekitar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0,852)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000000"/>
                </a:solidFill>
                <a:latin typeface="Times New Roman"/>
              </a:rPr>
              <a:t>• 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Selisih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latih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dan uji sangat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kecil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sehingga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tidak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000000"/>
                </a:solidFill>
                <a:latin typeface="Times New Roman"/>
              </a:rPr>
              <a:t>ada</a:t>
            </a:r>
            <a:r>
              <a:rPr sz="1500" b="0" i="0" dirty="0">
                <a:solidFill>
                  <a:srgbClr val="000000"/>
                </a:solidFill>
                <a:latin typeface="Times New Roman"/>
              </a:rPr>
              <a:t> overfitting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5. Kesimpulan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43584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Model menjelaskan sekitar 84 persen variansi konsumsi dan menggeneralisasi dengan baik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Penggerak utama adalah jenis bahan bakar, kelas kendaraan, dan ukuran mesin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Jumlah silinder dipertahankan karena ablasi membuktikan ia menambah daya prediksi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Tahun model dibuang karena korelasi dan kontribusinya dapat diabaikan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Suku kuadratik tidak diperlukan sehingga model linear yang dipilih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•  Heteroskedastisitas dikoreksi dengan standard error robust HC3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00000"/>
                </a:solidFill>
                <a:latin typeface="Times New Roman"/>
              </a:rPr>
              <a:t>Keterbatasan, Saran, dan Sumber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43584"/>
            <a:ext cx="110642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•  Breusch-Pagan dan Jarque-Bera menolak homoskedastisitas dan normalitas secara formal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1">
                <a:solidFill>
                  <a:srgbClr val="3A3A3A"/>
                </a:solidFill>
                <a:latin typeface="Times New Roman"/>
              </a:rPr>
              <a:t>       penolakan wajar pada sampel besar dan tidak membatalkan estimasi titik koefisien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•  Interval prediksi kurang terkalibrasi di bagian ekor akibat ekor tebal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•  Independensi tidak diuji sehingga kemungkinan korelasi dalam grup masih terbuka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•  Model bersifat asosiatif, bukan kausal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•  Saran: menambah prediktor lain, memakai standard error berbasis cluster, kalibrasi interval prediksi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•  Sumber data: Yilmaz, Fuel Consumption 2000 sampai 2022, Kaggle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1774</Words>
  <Application>Microsoft Office PowerPoint</Application>
  <PresentationFormat>Widescreen</PresentationFormat>
  <Paragraphs>391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Rei Soemanto</cp:lastModifiedBy>
  <cp:revision>5</cp:revision>
  <dcterms:created xsi:type="dcterms:W3CDTF">2013-01-27T09:14:16Z</dcterms:created>
  <dcterms:modified xsi:type="dcterms:W3CDTF">2026-06-07T12:33:16Z</dcterms:modified>
  <cp:category/>
</cp:coreProperties>
</file>