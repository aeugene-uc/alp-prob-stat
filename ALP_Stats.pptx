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212121"/>
                </a:solidFill>
                <a:latin typeface="Calibri"/>
              </a:rPr>
              <a:t>ALP Stats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212121"/>
                </a:solidFill>
                <a:latin typeface="Calibri"/>
              </a:rPr>
              <a:t>Pemodelan Konsumsi Bahan Bakar Kendaraan</a:t>
            </a:r>
          </a:p>
          <a:p>
            <a:r>
              <a:rPr sz="1600" b="0" i="0">
                <a:solidFill>
                  <a:srgbClr val="5F5F5F"/>
                </a:solidFill>
                <a:latin typeface="Calibri"/>
              </a:rPr>
              <a:t>Regresi Linear Berganda + One-Hot Encoding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4069080"/>
            <a:ext cx="5029200" cy="254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29768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212121"/>
                </a:solidFill>
                <a:latin typeface="Calibri"/>
              </a:rPr>
              <a:t>Rei Putra Soemanto   </a:t>
            </a:r>
            <a:r>
              <a:rPr sz="1400" b="0" i="0">
                <a:solidFill>
                  <a:srgbClr val="5F5F5F"/>
                </a:solidFill>
                <a:latin typeface="Calibri"/>
              </a:rPr>
              <a:t>0706012410060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212121"/>
                </a:solidFill>
                <a:latin typeface="Calibri"/>
              </a:rPr>
              <a:t>Amadeus Eugene Dirgantara   </a:t>
            </a:r>
            <a:r>
              <a:rPr sz="1400" b="0" i="0">
                <a:solidFill>
                  <a:srgbClr val="5F5F5F"/>
                </a:solidFill>
                <a:latin typeface="Calibri"/>
              </a:rPr>
              <a:t>0706012410063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212121"/>
                </a:solidFill>
                <a:latin typeface="Calibri"/>
              </a:rPr>
              <a:t>Jason Tio   </a:t>
            </a:r>
            <a:r>
              <a:rPr sz="1400" b="0" i="0">
                <a:solidFill>
                  <a:srgbClr val="5F5F5F"/>
                </a:solidFill>
                <a:latin typeface="Calibri"/>
              </a:rPr>
              <a:t>0706012410006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12121"/>
                </a:solidFill>
                <a:latin typeface="Calibri"/>
              </a:rPr>
              <a:t>Dataset &amp; Tujuan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64240" cy="254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212121"/>
                </a:solidFill>
                <a:latin typeface="Calibri"/>
              </a:rPr>
              <a:t>•  Sumber: Fuel Consumption 2000-2022; 22.556 baris kendaraan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212121"/>
                </a:solidFill>
                <a:latin typeface="Calibri"/>
              </a:rPr>
              <a:t>•  Target: comb_l_100km (konsumsi bahan bakar gabungan, L/100 km)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212121"/>
                </a:solidFill>
                <a:latin typeface="Calibri"/>
              </a:rPr>
              <a:t>•  Prediktor: spesifikasi mesin, kelas kendaraan, bahan bakar, transmisi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212121"/>
                </a:solidFill>
                <a:latin typeface="Calibri"/>
              </a:rPr>
              <a:t>•  Tujuan: memodelkan &amp; menjelaskan konsumsi dari spesifikasi kendaraan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212121"/>
                </a:solidFill>
                <a:latin typeface="Calibri"/>
              </a:rPr>
              <a:t>•  Metode: regresi linear berganda dengan one-hot encoding (OLS)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212121"/>
                </a:solidFill>
                <a:latin typeface="Calibri"/>
              </a:rPr>
              <a:t>•  Pendekatan inferensi: keputusan berbasis ukuran efek &amp; confidence interval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5F5F5F"/>
                </a:solidFill>
                <a:latin typeface="Calibri"/>
              </a:rPr>
              <a:t>     –  p-value tidak informatif pada n besar (~22 ribu): hampir selalu signifikan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BBBBBB"/>
                </a:solidFill>
                <a:latin typeface="Calibri"/>
              </a:rPr>
              <a:t>ALP Stats  | 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12121"/>
                </a:solidFill>
                <a:latin typeface="Calibri"/>
              </a:rPr>
              <a:t>Pra-pemrosesan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64240" cy="254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212121"/>
                </a:solidFill>
                <a:latin typeface="Calibri"/>
              </a:rPr>
              <a:t>•  Nilai hilang: tidak ada di kolom mana pun -&gt; tanpa imputasi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212121"/>
                </a:solidFill>
                <a:latin typeface="Calibri"/>
              </a:rPr>
              <a:t>•  1 baris duplikat persis dihapus -&gt; tersisa 22.555 observasi unik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212121"/>
                </a:solidFill>
                <a:latin typeface="Calibri"/>
              </a:rPr>
              <a:t>•  Label vehicle_class dinormalkan (kapitalisasi &amp; pemisah - / :)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5F5F5F"/>
                </a:solidFill>
                <a:latin typeface="Calibri"/>
              </a:rPr>
              <a:t>     –  32 label berbeda menyusut menjadi 17 kelas yang konsisten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212121"/>
                </a:solidFill>
                <a:latin typeface="Calibri"/>
              </a:rPr>
              <a:t>•  Kode fuel &amp; transmisi ditulis sebagai "definisi (kode)"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5F5F5F"/>
                </a:solidFill>
                <a:latin typeface="Calibri"/>
              </a:rPr>
              <a:t>     –  mis. Regular gasoline (X), Automatic (A)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212121"/>
                </a:solidFill>
                <a:latin typeface="Calibri"/>
              </a:rPr>
              <a:t>•  transmission dipecah menjadi transmission_type + n_gears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5F5F5F"/>
                </a:solidFill>
                <a:latin typeface="Calibri"/>
              </a:rPr>
              <a:t>     –  CVT (AV) tidak punya gigi tetap -&gt; n_gears = 0 (konvensi)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BBBBBB"/>
                </a:solidFill>
                <a:latin typeface="Calibri"/>
              </a:rPr>
              <a:t>ALP Stats  | 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12121"/>
                </a:solidFill>
                <a:latin typeface="Calibri"/>
              </a:rPr>
              <a:t>Variabel &amp; Peran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64240" cy="254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00200"/>
          <a:ext cx="10972798" cy="373075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18197"/>
                <a:gridCol w="1545464"/>
                <a:gridCol w="3090929"/>
                <a:gridCol w="4018208"/>
              </a:tblGrid>
              <a:tr h="41452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Variabel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Tipe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Peran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Kategori/Catatan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</a:tr>
              <a:tr h="41452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engine_size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numerik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prediktor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kontinu, 1-8 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1452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cylinders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numerik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prediktor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4 / 6 / 8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</a:tr>
              <a:tr h="41452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numerik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dibuang (korelasi ~0)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model year 2000-2022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1452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n_gears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numerik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prediktor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0 (CVT) - 10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</a:tr>
              <a:tr h="41452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fuel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kategorikal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prediktor (one-hot)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5 jenis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1452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vehicle_class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kategorikal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prediktor (one-hot)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17 kelas (dirapikan)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</a:tr>
              <a:tr h="41452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transmission_type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kategorikal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prediktor (one-hot)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5 tipe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1452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comb_l_100km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respons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12121"/>
                          </a:solidFill>
                          <a:latin typeface="Calibri"/>
                        </a:rPr>
                        <a:t>L/100 km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881360" y="6419088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BBBBBB"/>
                </a:solidFill>
                <a:latin typeface="Calibri"/>
              </a:rPr>
              <a:t>ALP Stats  | 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12121"/>
                </a:solidFill>
                <a:latin typeface="Calibri"/>
              </a:rPr>
              <a:t>Statistik Deskriptif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64240" cy="254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8412476" cy="267004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922852"/>
                <a:gridCol w="1081604"/>
                <a:gridCol w="1081604"/>
                <a:gridCol w="1081604"/>
                <a:gridCol w="1081604"/>
                <a:gridCol w="1081604"/>
                <a:gridCol w="1081604"/>
              </a:tblGrid>
              <a:tr h="445008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std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max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12121"/>
                          </a:solidFill>
                          <a:latin typeface="Calibri"/>
                        </a:rPr>
                        <a:t>engine_size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12121"/>
                          </a:solidFill>
                          <a:latin typeface="Calibri"/>
                        </a:rPr>
                        <a:t>22555.000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12121"/>
                          </a:solidFill>
                          <a:latin typeface="Calibri"/>
                        </a:rPr>
                        <a:t>3.360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12121"/>
                          </a:solidFill>
                          <a:latin typeface="Calibri"/>
                        </a:rPr>
                        <a:t>1.340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12121"/>
                          </a:solidFill>
                          <a:latin typeface="Calibri"/>
                        </a:rPr>
                        <a:t>0.8000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12121"/>
                          </a:solidFill>
                          <a:latin typeface="Calibri"/>
                        </a:rPr>
                        <a:t>3.000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12121"/>
                          </a:solidFill>
                          <a:latin typeface="Calibri"/>
                        </a:rPr>
                        <a:t>8.400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12121"/>
                          </a:solidFill>
                          <a:latin typeface="Calibri"/>
                        </a:rPr>
                        <a:t>cylinders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12121"/>
                          </a:solidFill>
                          <a:latin typeface="Calibri"/>
                        </a:rPr>
                        <a:t>22555.000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12121"/>
                          </a:solidFill>
                          <a:latin typeface="Calibri"/>
                        </a:rPr>
                        <a:t>5.850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12121"/>
                          </a:solidFill>
                          <a:latin typeface="Calibri"/>
                        </a:rPr>
                        <a:t>1.820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12121"/>
                          </a:solidFill>
                          <a:latin typeface="Calibri"/>
                        </a:rPr>
                        <a:t>2.000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12121"/>
                          </a:solidFill>
                          <a:latin typeface="Calibri"/>
                        </a:rPr>
                        <a:t>6.000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12121"/>
                          </a:solidFill>
                          <a:latin typeface="Calibri"/>
                        </a:rPr>
                        <a:t>16.000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12121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12121"/>
                          </a:solidFill>
                          <a:latin typeface="Calibri"/>
                        </a:rPr>
                        <a:t>22555.000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12121"/>
                          </a:solidFill>
                          <a:latin typeface="Calibri"/>
                        </a:rPr>
                        <a:t>2011.550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12121"/>
                          </a:solidFill>
                          <a:latin typeface="Calibri"/>
                        </a:rPr>
                        <a:t>6.300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12121"/>
                          </a:solidFill>
                          <a:latin typeface="Calibri"/>
                        </a:rPr>
                        <a:t>2000.000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12121"/>
                          </a:solidFill>
                          <a:latin typeface="Calibri"/>
                        </a:rPr>
                        <a:t>2012.000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12121"/>
                          </a:solidFill>
                          <a:latin typeface="Calibri"/>
                        </a:rPr>
                        <a:t>2022.000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12121"/>
                          </a:solidFill>
                          <a:latin typeface="Calibri"/>
                        </a:rPr>
                        <a:t>n_gears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12121"/>
                          </a:solidFill>
                          <a:latin typeface="Calibri"/>
                        </a:rPr>
                        <a:t>22555.000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12121"/>
                          </a:solidFill>
                          <a:latin typeface="Calibri"/>
                        </a:rPr>
                        <a:t>5.640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12121"/>
                          </a:solidFill>
                          <a:latin typeface="Calibri"/>
                        </a:rPr>
                        <a:t>1.960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12121"/>
                          </a:solidFill>
                          <a:latin typeface="Calibri"/>
                        </a:rPr>
                        <a:t>0.0000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12121"/>
                          </a:solidFill>
                          <a:latin typeface="Calibri"/>
                        </a:rPr>
                        <a:t>6.000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12121"/>
                          </a:solidFill>
                          <a:latin typeface="Calibri"/>
                        </a:rPr>
                        <a:t>10.000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12121"/>
                          </a:solidFill>
                          <a:latin typeface="Calibri"/>
                        </a:rPr>
                        <a:t>comb_l_100km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12121"/>
                          </a:solidFill>
                          <a:latin typeface="Calibri"/>
                        </a:rPr>
                        <a:t>22555.000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12121"/>
                          </a:solidFill>
                          <a:latin typeface="Calibri"/>
                        </a:rPr>
                        <a:t>11.030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12121"/>
                          </a:solidFill>
                          <a:latin typeface="Calibri"/>
                        </a:rPr>
                        <a:t>2.910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12121"/>
                          </a:solidFill>
                          <a:latin typeface="Calibri"/>
                        </a:rPr>
                        <a:t>3.600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12121"/>
                          </a:solidFill>
                          <a:latin typeface="Calibri"/>
                        </a:rPr>
                        <a:t>10.600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12121"/>
                          </a:solidFill>
                          <a:latin typeface="Calibri"/>
                        </a:rPr>
                        <a:t>26.100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326880" y="1737360"/>
            <a:ext cx="2651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•  Mesin 1-8 L; silinder 4/6/8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•  year merata 2000-2022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•  n_gears 0 (CVT) - 10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•  Dominan Regular &amp; Premium gasoline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BBBBBB"/>
                </a:solidFill>
                <a:latin typeface="Calibri"/>
              </a:rPr>
              <a:t>ALP Stats  | 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12121"/>
                </a:solidFill>
                <a:latin typeface="Calibri"/>
              </a:rPr>
              <a:t>Pair Plot Variabel Numerik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64240" cy="254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lot1_cell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417320"/>
            <a:ext cx="50292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0" y="173736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•  engine_size, cylinders, comb_l_100km menanjak jelas bersama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•  cylinders &amp; n_gears diskret -&gt; pita-pita vertikal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•  year hampir datar terhadap konsumsi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•  Hubungan dengan target mendekati garis lurus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5F5F5F"/>
                </a:solidFill>
                <a:latin typeface="Calibri"/>
              </a:rPr>
              <a:t>     –  mendukung korelasi Pearson &amp; model linear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BBBBBB"/>
                </a:solidFill>
                <a:latin typeface="Calibri"/>
              </a:rPr>
              <a:t>ALP Stats  | 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12121"/>
                </a:solidFill>
                <a:latin typeface="Calibri"/>
              </a:rPr>
              <a:t>Distribusi Konsumsi per Bahan Bakar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64240" cy="254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lot2_cell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36037"/>
            <a:ext cx="7498079" cy="2408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737360"/>
            <a:ext cx="37490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•  Median bergeser sistematis antar kategori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•  Diesel paling hemat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•  Ethanol E85 &amp; Natural Gas paling boros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5F5F5F"/>
                </a:solidFill>
                <a:latin typeface="Calibri"/>
              </a:rPr>
              <a:t>     –  densitas energi lebih rendah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•  Bahan bakar layak masuk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BBBBBB"/>
                </a:solidFill>
                <a:latin typeface="Calibri"/>
              </a:rPr>
              <a:t>ALP Stats  | 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12121"/>
                </a:solidFill>
                <a:latin typeface="Calibri"/>
              </a:rPr>
              <a:t>Distribusi Konsumsi per Kelas Kendaraan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64240" cy="254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lot3_cell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90347"/>
            <a:ext cx="7680960" cy="48831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21040" y="18288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•  Gradien jelas dari mobil kecil ke besar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•  Sedan &amp; kompak paling hemat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•  Van &amp; pickup paling boros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•  Kelas kendaraan membawa informasi kuat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BBBBBB"/>
                </a:solidFill>
                <a:latin typeface="Calibri"/>
              </a:rPr>
              <a:t>ALP Stats  | 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12121"/>
                </a:solidFill>
                <a:latin typeface="Calibri"/>
              </a:rPr>
              <a:t>Distribusi Konsumsi per Transmisi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64240" cy="254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lot4_cell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36037"/>
            <a:ext cx="7498079" cy="2408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828800"/>
            <a:ext cx="37490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•  Perbedaan antar tipe lebih landai namun sistematis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•  CVT cenderung paling hemat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•  Lima tipe transmisi tetap informatif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12121"/>
                </a:solidFill>
                <a:latin typeface="Calibri"/>
              </a:rPr>
              <a:t>•  Layak di-one-hot encode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BBBBBB"/>
                </a:solidFill>
                <a:latin typeface="Calibri"/>
              </a:rPr>
              <a:t>ALP Stats  | 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12121"/>
                </a:solidFill>
                <a:latin typeface="Calibri"/>
              </a:rPr>
              <a:t>Korelasi Pearson</a:t>
            </a:r>
          </a:p>
          <a:p>
            <a:r>
              <a:rPr sz="1400" b="0" i="0">
                <a:solidFill>
                  <a:srgbClr val="5F5F5F"/>
                </a:solidFill>
                <a:latin typeface="Calibri"/>
              </a:rPr>
              <a:t>Hubungan linear; keputusan via CI 95% (Fisher z) terhadap ambang |r| &gt; 0.1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64240" cy="254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lot5_cell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89809"/>
            <a:ext cx="4937760" cy="4227021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0" y="1600200"/>
          <a:ext cx="6400797" cy="288950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33599"/>
                <a:gridCol w="834886"/>
                <a:gridCol w="1020417"/>
                <a:gridCol w="1020417"/>
                <a:gridCol w="1391478"/>
              </a:tblGrid>
              <a:tr h="412786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Pasangan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CI_bawah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CI_atas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Putusan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</a:tr>
              <a:tr h="41278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engine_size ~ cylinders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0.9130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0.9110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0.9160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Signifikan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1278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engine_size ~ year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-0.0780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-0.0910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-0.0650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Tidak Signifikan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</a:tr>
              <a:tr h="41278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engine_size ~ comb_l_100km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0.8070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0.8030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0.8120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Signifikan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1278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cylinders ~ year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-0.0730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-0.0850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-0.0600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Tidak Signifikan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</a:tr>
              <a:tr h="41278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cylinders ~ comb_l_100km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0.7720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0.7660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0.7770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Signifikan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1278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year ~ comb_l_100km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-0.0680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-0.0810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-0.0550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Tidak Signifikan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577840" y="4846320"/>
            <a:ext cx="6400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12121"/>
                </a:solidFill>
                <a:latin typeface="Calibri"/>
              </a:rPr>
              <a:t>•  engine_size r=0.81 &amp; cylinders r=0.77 -&gt; kuat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12121"/>
                </a:solidFill>
                <a:latin typeface="Calibri"/>
              </a:rPr>
              <a:t>•  engine_size~cylinders r=0.91 -&gt; kolinier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12121"/>
                </a:solidFill>
                <a:latin typeface="Calibri"/>
              </a:rPr>
              <a:t>•  year r=-0.07 -&gt; dapat diabaikan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BBBBBB"/>
                </a:solidFill>
                <a:latin typeface="Calibri"/>
              </a:rPr>
              <a:t>ALP Stats  | 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12121"/>
                </a:solidFill>
                <a:latin typeface="Calibri"/>
              </a:rPr>
              <a:t>Korelasi Spearman</a:t>
            </a:r>
          </a:p>
          <a:p>
            <a:r>
              <a:rPr sz="1400" b="0" i="0">
                <a:solidFill>
                  <a:srgbClr val="5F5F5F"/>
                </a:solidFill>
                <a:latin typeface="Calibri"/>
              </a:rPr>
              <a:t>Hubungan monoton via peringkat; robust outlier; CI 95% Bonett-Wright (2000)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64240" cy="254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lot6_cell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89809"/>
            <a:ext cx="4937760" cy="4227021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0" y="1600200"/>
          <a:ext cx="6400797" cy="288950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33599"/>
                <a:gridCol w="834886"/>
                <a:gridCol w="1020417"/>
                <a:gridCol w="1020417"/>
                <a:gridCol w="1391478"/>
              </a:tblGrid>
              <a:tr h="412786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Pasangan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rho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CI_bawah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CI_atas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Putusan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</a:tr>
              <a:tr h="41278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engine_size ~ cylinders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0.9360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0.9340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0.9380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Signifikan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1278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engine_size ~ year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-0.1020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-0.1150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-0.0890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Tidak Meyakinkan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</a:tr>
              <a:tr h="41278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engine_size ~ comb_l_100km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0.8450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0.8410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0.8490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Signifikan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1278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cylinders ~ year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-0.1000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-0.1130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-0.0870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Tidak Meyakinkan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</a:tr>
              <a:tr h="41278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cylinders ~ comb_l_100km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0.8180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0.8130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0.8230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Signifikan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1278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year ~ comb_l_100km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-0.0730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-0.0860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-0.0600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Tidak Signifikan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577840" y="4846320"/>
            <a:ext cx="6400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12121"/>
                </a:solidFill>
                <a:latin typeface="Calibri"/>
              </a:rPr>
              <a:t>•  engine_size 0.84 &amp; cylinders 0.82 -&gt; kuat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12121"/>
                </a:solidFill>
                <a:latin typeface="Calibri"/>
              </a:rPr>
              <a:t>•  engine_size~cylinders 0.94 -&gt; kolinier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12121"/>
                </a:solidFill>
                <a:latin typeface="Calibri"/>
              </a:rPr>
              <a:t>•  pasangan ~year di batas -&gt; tidak meyakinkan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BBBBBB"/>
                </a:solidFill>
                <a:latin typeface="Calibri"/>
              </a:rPr>
              <a:t>ALP Stats  | 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12121"/>
                </a:solidFill>
                <a:latin typeface="Calibri"/>
              </a:rPr>
              <a:t>Perbandingan Pearson vs Spearman</a:t>
            </a:r>
          </a:p>
          <a:p>
            <a:r>
              <a:rPr sz="1400" b="0" i="0">
                <a:solidFill>
                  <a:srgbClr val="5F5F5F"/>
                </a:solidFill>
                <a:latin typeface="Calibri"/>
              </a:rPr>
              <a:t>Penyaring linearitas informal (bukan uji formal)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64240" cy="254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40"/>
          <a:ext cx="7680956" cy="288950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017519"/>
                <a:gridCol w="1508759"/>
                <a:gridCol w="1508759"/>
                <a:gridCol w="1645919"/>
              </a:tblGrid>
              <a:tr h="412786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Pasangan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Pearson (r)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Spearman (rho)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selisih (S - P)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</a:tr>
              <a:tr h="412786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cylinders ~ comb_l_100km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0.7716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0.8176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0.0460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12786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engine_size ~ comb_l_100km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0.8073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0.8449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0.0376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</a:tr>
              <a:tr h="412786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cylinders ~ year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-0.0725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-0.0998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-0.0272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12786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engine_size ~ year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-0.0777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-0.1020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-0.0242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</a:tr>
              <a:tr h="412786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engine_size ~ cylinders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0.9134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0.9357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0.0223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1278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year ~ comb_l_100km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-0.0679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-0.0732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-0.0053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503920" y="178308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•  Pearson = linear; Spearman = monoton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•  Selisih kecil &amp; positif pada pasangan target (+0.04, +0.05)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5F5F5F"/>
                </a:solidFill>
                <a:latin typeface="Calibri"/>
              </a:rPr>
              <a:t>     –  kelengkungan monoton sangat ringan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•  Pearson sedikit underestimate, tetap sah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•  Bentuk non-monoton tak tampak di keduanya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5F5F5F"/>
                </a:solidFill>
                <a:latin typeface="Calibri"/>
              </a:rPr>
              <a:t>     –  linearitas dicek via residual &amp; model linear vs polinomial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BBBBBB"/>
                </a:solidFill>
                <a:latin typeface="Calibri"/>
              </a:rPr>
              <a:t>ALP Stats  | 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12121"/>
                </a:solidFill>
                <a:latin typeface="Calibri"/>
              </a:rPr>
              <a:t>Seleksi Fitur &amp; One-Hot Encoding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64240" cy="254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212121"/>
                </a:solidFill>
                <a:latin typeface="Calibri"/>
              </a:rPr>
              <a:t>•  engine_size &amp; cylinders dipertahankan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5F5F5F"/>
                </a:solidFill>
                <a:latin typeface="Calibri"/>
              </a:rPr>
              <a:t>     –  kolinier (r=0.91) tetapi tidak redundan; ditafsirkan bersama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212121"/>
                </a:solidFill>
                <a:latin typeface="Calibri"/>
              </a:rPr>
              <a:t>•  year dibuang: korelasi ~0 dan kontribusi prediktif ~0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212121"/>
                </a:solidFill>
                <a:latin typeface="Calibri"/>
              </a:rPr>
              <a:t>•  n_gears dipertahankan (transmisi berkaitan dengan konsumsi)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212121"/>
                </a:solidFill>
                <a:latin typeface="Calibri"/>
              </a:rPr>
              <a:t>•  fuel, vehicle_class, transmission_type di-one-hot (k-1 kolom)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212121"/>
                </a:solidFill>
                <a:latin typeface="Calibri"/>
              </a:rPr>
              <a:t>•  Kategori referensi: Diesel (D), COMPACT, Automatic (A)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5F5F5F"/>
                </a:solidFill>
                <a:latin typeface="Calibri"/>
              </a:rPr>
              <a:t>     –  menghindari dummy variable trap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212121"/>
                </a:solidFill>
                <a:latin typeface="Calibri"/>
              </a:rPr>
              <a:t>•  engine_size_sq disiapkan untuk uji linear vs polinomial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BBBBBB"/>
                </a:solidFill>
                <a:latin typeface="Calibri"/>
              </a:rPr>
              <a:t>ALP Stats  | 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12121"/>
                </a:solidFill>
                <a:latin typeface="Calibri"/>
              </a:rPr>
              <a:t>Pemilihan Model &amp; Performa</a:t>
            </a:r>
          </a:p>
          <a:p>
            <a:r>
              <a:rPr sz="1400" b="0" i="0">
                <a:solidFill>
                  <a:srgbClr val="5F5F5F"/>
                </a:solidFill>
                <a:latin typeface="Calibri"/>
              </a:rPr>
              <a:t>Split 80/20 (random_state=1); model dipilih dari R2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64240" cy="254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40"/>
          <a:ext cx="6583680" cy="12801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82240"/>
                <a:gridCol w="1341120"/>
                <a:gridCol w="1341120"/>
                <a:gridCol w="1219200"/>
              </a:tblGrid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R2_train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R2_test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n_param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Linear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0.8342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0.8365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Polinomial (eng_size^2)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0.8344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0.8364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3566160"/>
          <a:ext cx="6583678" cy="17373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025747"/>
                <a:gridCol w="1392701"/>
                <a:gridCol w="1392701"/>
                <a:gridCol w="1772529"/>
              </a:tblGrid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Metrik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train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selisih train vs test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R^2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0.8342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0.8365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-0.0023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1.186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1.176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0.0101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0.8962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0.8941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0.0020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80960" y="178308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12121"/>
                </a:solidFill>
                <a:latin typeface="Calibri"/>
              </a:rPr>
              <a:t>•  Kenaikan R2 test polinomial: -0.0000 -&gt; diabaikan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12121"/>
                </a:solidFill>
                <a:latin typeface="Calibri"/>
              </a:rPr>
              <a:t>•  Dipilih model LINEAR (parsimoni)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12121"/>
                </a:solidFill>
                <a:latin typeface="Calibri"/>
              </a:rPr>
              <a:t>•  R2 train &amp; test berdekatan -&gt; tidak overfit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12121"/>
                </a:solidFill>
                <a:latin typeface="Calibri"/>
              </a:rPr>
              <a:t>•  RMSE &amp; MAE dalam satuan asli (L/100 km)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12121"/>
                </a:solidFill>
                <a:latin typeface="Calibri"/>
              </a:rPr>
              <a:t>•  F-test: prediktor berpengaruh bersama (p~0)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BBBBBB"/>
                </a:solidFill>
                <a:latin typeface="Calibri"/>
              </a:rPr>
              <a:t>ALP Stats  | 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12121"/>
                </a:solidFill>
                <a:latin typeface="Calibri"/>
              </a:rPr>
              <a:t>Interpretasi Koefisien</a:t>
            </a:r>
          </a:p>
          <a:p>
            <a:r>
              <a:rPr sz="1400" b="0" i="0">
                <a:solidFill>
                  <a:srgbClr val="5F5F5F"/>
                </a:solidFill>
                <a:latin typeface="Calibri"/>
              </a:rPr>
              <a:t>Koefisien &amp; CI 95% berbasis standard error robust HC3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64240" cy="254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40"/>
          <a:ext cx="7863838" cy="43891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859578"/>
                <a:gridCol w="1191490"/>
                <a:gridCol w="1310640"/>
                <a:gridCol w="1310640"/>
                <a:gridCol w="1191490"/>
              </a:tblGrid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Prediktor (vs referensi)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coef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CI_low_95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CI_high_95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p_value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engine_size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0.6440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0.5920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0.6960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0.0000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cylinders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0.5740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0.5380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0.6100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0.0000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n_gears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-0.0520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-0.0660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-0.0370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0.0000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fuel: Ethanol E85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5.489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5.340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5.637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0.0000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fuel: Natural gas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3.785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3.287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4.284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0.0000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fuel: Premium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2.095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1.983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2.208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0.0000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fuel: Regular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1.422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1.310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1.534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0.0000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transmisi: CVT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-1.622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-1.749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-1.496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0.0000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kelas: VAN PASSENGER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3.919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3.713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4.126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0.0000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990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kelas: VAN CARGO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2.616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2.475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2.756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0.0000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86800" y="17830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•  Mesin lebih besar &amp; silinder lebih banyak -&gt; boros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•  Tiap gigi tambahan sedikit lebih hemat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•  Diesel paling hemat; E85 paling boros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•  CVT paling hemat antar transmisi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•  Van &amp; pickup paling boros antar kelas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BBBBBB"/>
                </a:solidFill>
                <a:latin typeface="Calibri"/>
              </a:rPr>
              <a:t>ALP Stats  | 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12121"/>
                </a:solidFill>
                <a:latin typeface="Calibri"/>
              </a:rPr>
              <a:t>Validasi Asumsi</a:t>
            </a:r>
          </a:p>
          <a:p>
            <a:r>
              <a:rPr sz="1400" b="0" i="0">
                <a:solidFill>
                  <a:srgbClr val="5F5F5F"/>
                </a:solidFill>
                <a:latin typeface="Calibri"/>
              </a:rPr>
              <a:t>Pada n besar p-value selalu menolak; dinilai dari MAGNITUDO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64240" cy="254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40"/>
          <a:ext cx="7863838" cy="26517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449392"/>
                <a:gridCol w="1546984"/>
                <a:gridCol w="3867462"/>
              </a:tblGrid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Uji / Ukuran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Nilai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Ambang / makna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Breusch-Pagan p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6.4e-298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tolak homoskedastik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Jarque-Bera p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0.0e+00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tolak normal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Skewness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+0.42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|.|&lt;=0.5 -&gt; hampir simetris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Excess kurtosis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+2.14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|.|&lt;=1 -&gt; ekor berat (leptokurtik)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BP R2_aux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0.083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proporsi var. residual^2 dijelaskan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86800" y="17830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•  Heteroskedastisitas nyata (sedang)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5F5F5F"/>
                </a:solidFill>
                <a:latin typeface="Calibri"/>
              </a:rPr>
              <a:t>     –  ditangani SE robust HC3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•  Ekor berat = penyimpangan utama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•  Inferensi koefisien aman (CLT)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212121"/>
                </a:solidFill>
                <a:latin typeface="Calibri"/>
              </a:rPr>
              <a:t>•  Interval prediksi kurang terkalibrasi di ekor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BBBBBB"/>
                </a:solidFill>
                <a:latin typeface="Calibri"/>
              </a:rPr>
              <a:t>ALP Stats  | 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12121"/>
                </a:solidFill>
                <a:latin typeface="Calibri"/>
              </a:rPr>
              <a:t>Diagnostik Visual Residual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64240" cy="254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lot7_cell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40376"/>
            <a:ext cx="7863840" cy="32173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7373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12121"/>
                </a:solidFill>
                <a:latin typeface="Calibri"/>
              </a:rPr>
              <a:t>•  Q-Q: tengah lurus, ekor menyimpang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F5F5F"/>
                </a:solidFill>
                <a:latin typeface="Calibri"/>
              </a:rPr>
              <a:t>     –  leptokurtik (ekor berat)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12121"/>
                </a:solidFill>
                <a:latin typeface="Calibri"/>
              </a:rPr>
              <a:t>•  Residual vs fitted: pola corong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F5F5F"/>
                </a:solidFill>
                <a:latin typeface="Calibri"/>
              </a:rPr>
              <a:t>     –  heteroskedastisitas (sesuai Breusch-Pagan)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12121"/>
                </a:solidFill>
                <a:latin typeface="Calibri"/>
              </a:rPr>
              <a:t>•  Tak ada lengkungan sistematis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F5F5F"/>
                </a:solidFill>
                <a:latin typeface="Calibri"/>
              </a:rPr>
              <a:t>     –  spesifikasi linear memadai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12121"/>
                </a:solidFill>
                <a:latin typeface="Calibri"/>
              </a:rPr>
              <a:t>•  Ditangani dengan SE robust HC3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BBBBBB"/>
                </a:solidFill>
                <a:latin typeface="Calibri"/>
              </a:rPr>
              <a:t>ALP Stats  |  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12121"/>
                </a:solidFill>
                <a:latin typeface="Calibri"/>
              </a:rPr>
              <a:t>Refinement: Ablasi &amp; Standard Error Robust (HC3)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64240" cy="254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40"/>
          <a:ext cx="5486398" cy="17373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85391"/>
                <a:gridCol w="1431234"/>
                <a:gridCol w="1669773"/>
              </a:tblGrid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Skenario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R2_test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Delta vs final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Model final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0.8365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0.0000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Tanpa cylinders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0.8168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-0.0197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Tambah year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0.8365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12121"/>
                          </a:solidFill>
                          <a:latin typeface="Calibri"/>
                        </a:rPr>
                        <a:t>-0.0000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3977639"/>
          <a:ext cx="6035038" cy="204825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21169"/>
                <a:gridCol w="1160584"/>
                <a:gridCol w="1160584"/>
                <a:gridCol w="1392701"/>
              </a:tblGrid>
              <a:tr h="409651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Koefisien (sampel)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SE_OLS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SE_HC3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rasio_HC3/OLS</a:t>
                      </a:r>
                    </a:p>
                  </a:txBody>
                  <a:tcPr marL="45720" marR="45720" marT="18288" marB="18288" anchor="ctr">
                    <a:solidFill>
                      <a:srgbClr val="333333"/>
                    </a:solidFill>
                  </a:tcPr>
                </a:tc>
              </a:tr>
              <a:tr h="409651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engine_size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0.0185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0.0264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1.431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09651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cylinders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0.0131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0.0185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1.411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</a:tr>
              <a:tr h="409651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fuel: Premium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0.0782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0.0574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0.7337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09652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kelas: VAN PASS.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0.0859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0.1053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12121"/>
                          </a:solidFill>
                          <a:latin typeface="Calibri"/>
                        </a:rPr>
                        <a:t>1.225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949440" y="17830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212121"/>
                </a:solidFill>
                <a:latin typeface="Calibri"/>
              </a:rPr>
              <a:t>•  Buang cylinders: R2 test turun ~0.02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5F5F5F"/>
                </a:solidFill>
                <a:latin typeface="Calibri"/>
              </a:rPr>
              <a:t>     –  kolinier bukan redundan -&gt; dipertahankan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212121"/>
                </a:solidFill>
                <a:latin typeface="Calibri"/>
              </a:rPr>
              <a:t>•  Tambah year: R2 test -0.0000, p=0.85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5F5F5F"/>
                </a:solidFill>
                <a:latin typeface="Calibri"/>
              </a:rPr>
              <a:t>     –  keputusan membuang year terkonfirmasi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212121"/>
                </a:solidFill>
                <a:latin typeface="Calibri"/>
              </a:rPr>
              <a:t>•  HC3: SE engine_size &amp; cylinders naik ~40%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5F5F5F"/>
                </a:solidFill>
                <a:latin typeface="Calibri"/>
              </a:rPr>
              <a:t>     –  estimasi titik tetap, ketidakpastian dikoreksi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BBBBBB"/>
                </a:solidFill>
                <a:latin typeface="Calibri"/>
              </a:rPr>
              <a:t>ALP Stats  |  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12121"/>
                </a:solidFill>
                <a:latin typeface="Calibri"/>
              </a:rPr>
              <a:t>Kesimpulan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1064240" cy="254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0" i="0">
                <a:solidFill>
                  <a:srgbClr val="212121"/>
                </a:solidFill>
                <a:latin typeface="Calibri"/>
              </a:rPr>
              <a:t>•  Model menjelaskan ~84% variansi konsumsi; generalisasi baik (tanpa overfitting)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0" i="0">
                <a:solidFill>
                  <a:srgbClr val="212121"/>
                </a:solidFill>
                <a:latin typeface="Calibri"/>
              </a:rPr>
              <a:t>•  Penggerak utama: jenis bahan bakar, kelas kendaraan, ukuran mesin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 i="0">
                <a:solidFill>
                  <a:srgbClr val="5F5F5F"/>
                </a:solidFill>
                <a:latin typeface="Calibri"/>
              </a:rPr>
              <a:t>     –  n_gears &amp; tipe transmisi berpengaruh lebih kecil (CVT paling hemat)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0" i="0">
                <a:solidFill>
                  <a:srgbClr val="212121"/>
                </a:solidFill>
                <a:latin typeface="Calibri"/>
              </a:rPr>
              <a:t>•  engine_size^2 tidak menambah R2 test -&gt; model linear (parsimoni)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0" i="0">
                <a:solidFill>
                  <a:srgbClr val="212121"/>
                </a:solidFill>
                <a:latin typeface="Calibri"/>
              </a:rPr>
              <a:t>•  Heteroskedastisitas dikoreksi dengan SE robust HC3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0" i="0">
                <a:solidFill>
                  <a:srgbClr val="212121"/>
                </a:solidFill>
                <a:latin typeface="Calibri"/>
              </a:rPr>
              <a:t>•  Non-normalitas: inferensi koefisien tetap valid (CLT)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 i="0">
                <a:solidFill>
                  <a:srgbClr val="5F5F5F"/>
                </a:solidFill>
                <a:latin typeface="Calibri"/>
              </a:rPr>
              <a:t>     –  interval prediksi kurang terkalibrasi di ekor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0" i="0">
                <a:solidFill>
                  <a:srgbClr val="212121"/>
                </a:solidFill>
                <a:latin typeface="Calibri"/>
              </a:rPr>
              <a:t>•  Keterbatasan: kemungkinan korelasi dalam-grup; model asosiatif, bukan kausal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BBBBBB"/>
                </a:solidFill>
                <a:latin typeface="Calibri"/>
              </a:rPr>
              <a:t>ALP Stats  | 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